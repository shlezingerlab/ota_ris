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600200"/>
            <a:ext cx="108200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Reference slide</a:t>
            </a:r>
            <a:br/>
            <a:br/>
            <a:r>
              <a:t>Provide --reference-image /path/to/original.png to embed the original figure here.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005840"/>
            <a:ext cx="2926080" cy="2377440"/>
          </a:xfrm>
          <a:prstGeom prst="roundRect">
            <a:avLst/>
          </a:prstGeom>
          <a:solidFill>
            <a:srgbClr val="DDEED8"/>
          </a:solidFill>
          <a:ln w="25400">
            <a:solidFill>
              <a:srgbClr val="6AA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0515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Encoder (TX)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" y="1508760"/>
            <a:ext cx="774192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AA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29512" y="1738884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29512" y="2005584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29512" y="2272284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29512" y="2538984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29512" y="2805684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990344" y="1508760"/>
            <a:ext cx="774192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AA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340864" y="1738884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0864" y="2005584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40864" y="2272284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340864" y="2538984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40864" y="2805684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901696" y="1508760"/>
            <a:ext cx="774192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AA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252216" y="1738884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252216" y="2005584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252216" y="2272284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252216" y="2538984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252216" y="2805684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063240" y="1417320"/>
            <a:ext cx="548640" cy="320040"/>
          </a:xfrm>
          <a:prstGeom prst="roundRect">
            <a:avLst/>
          </a:prstGeom>
          <a:solidFill>
            <a:srgbClr val="6AA84F"/>
          </a:solidFill>
          <a:ln w="12700">
            <a:solidFill>
              <a:srgbClr val="6AA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wₑ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1005840"/>
            <a:ext cx="2926080" cy="2377440"/>
          </a:xfrm>
          <a:prstGeom prst="roundRect">
            <a:avLst/>
          </a:prstGeom>
          <a:solidFill>
            <a:srgbClr val="DDEED8"/>
          </a:solidFill>
          <a:ln w="25400">
            <a:solidFill>
              <a:srgbClr val="6AA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10515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Decoder (RX)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77072" y="1508760"/>
            <a:ext cx="774192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AA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7592" y="1738884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927592" y="2005584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927592" y="2272284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927592" y="2538984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27592" y="2805684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488424" y="1508760"/>
            <a:ext cx="774192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AA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838944" y="1738884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838944" y="2005584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838944" y="2272284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38944" y="2538984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838944" y="2805684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399776" y="1508760"/>
            <a:ext cx="774192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AA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750296" y="1738884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750296" y="2005584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750296" y="2272284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750296" y="2538984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750296" y="2805684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0561320" y="1417320"/>
            <a:ext cx="548640" cy="320040"/>
          </a:xfrm>
          <a:prstGeom prst="roundRect">
            <a:avLst/>
          </a:prstGeom>
          <a:solidFill>
            <a:srgbClr val="6AA84F"/>
          </a:solidFill>
          <a:ln w="12700">
            <a:solidFill>
              <a:srgbClr val="6AA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w_d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" y="3977639"/>
            <a:ext cx="3840480" cy="2377440"/>
          </a:xfrm>
          <a:prstGeom prst="roundRect">
            <a:avLst/>
          </a:prstGeom>
          <a:solidFill>
            <a:srgbClr val="DDEED8"/>
          </a:solidFill>
          <a:ln w="25400">
            <a:solidFill>
              <a:srgbClr val="6AA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4023359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Metasurface Controller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78992" y="4480559"/>
            <a:ext cx="1078992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AA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581912" y="4710683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581912" y="4977383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581912" y="5244083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581912" y="5510783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581912" y="5777483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2295144" y="4480559"/>
            <a:ext cx="1078992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AA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798064" y="4710683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798064" y="4977383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798064" y="5244083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798064" y="5510783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798064" y="5777483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3511296" y="4480559"/>
            <a:ext cx="1078992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AA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014216" y="4710683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014216" y="4977383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014216" y="5244083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014216" y="5510783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014216" y="5777483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3977640" y="4389119"/>
            <a:ext cx="548640" cy="320040"/>
          </a:xfrm>
          <a:prstGeom prst="roundRect">
            <a:avLst/>
          </a:prstGeom>
          <a:solidFill>
            <a:srgbClr val="6AA84F"/>
          </a:solidFill>
          <a:ln w="12700">
            <a:solidFill>
              <a:srgbClr val="6AA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w_m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229600" y="3977639"/>
            <a:ext cx="4023360" cy="2377440"/>
          </a:xfrm>
          <a:prstGeom prst="roundRect">
            <a:avLst/>
          </a:prstGeom>
          <a:solidFill>
            <a:srgbClr val="DDEED8"/>
          </a:solidFill>
          <a:ln w="25400">
            <a:solidFill>
              <a:srgbClr val="6AA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21040" y="4069080"/>
            <a:ext cx="3840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Trainable Metasurface</a:t>
            </a:r>
            <a:br/>
            <a:r>
              <a:t>Configuration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572000" y="2057400"/>
            <a:ext cx="2926080" cy="1234440"/>
          </a:xfrm>
          <a:prstGeom prst="roundRect">
            <a:avLst/>
          </a:prstGeom>
          <a:solidFill>
            <a:srgbClr val="EFEFEF"/>
          </a:solidFill>
          <a:ln w="254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Transmission</a:t>
            </a:r>
          </a:p>
          <a:p>
            <a:pPr algn="ctr">
              <a:defRPr sz="1400"/>
            </a:pPr>
            <a:r>
              <a:t>T(ℋ(t), ϕ(t), s(t))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892040" y="320040"/>
            <a:ext cx="237744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Loss Function</a:t>
            </a:r>
          </a:p>
          <a:p>
            <a:pPr algn="ctr">
              <a:defRPr sz="1400"/>
            </a:pPr>
            <a:r>
              <a:t>ℒ(o(t), ô(t))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82880" y="1325880"/>
            <a:ext cx="640080" cy="320040"/>
          </a:xfrm>
          <a:prstGeom prst="roundRect">
            <a:avLst/>
          </a:prstGeom>
          <a:solidFill>
            <a:srgbClr val="F6B26B"/>
          </a:solidFill>
          <a:ln w="12700">
            <a:solidFill>
              <a:srgbClr val="C27C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o(t)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20040" y="1874519"/>
            <a:ext cx="640080" cy="320040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B7B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/>
            </a:pPr>
            <a:r>
              <a:t>x(t)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20040" y="2331720"/>
            <a:ext cx="640080" cy="320040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B7B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/>
            </a:pPr>
            <a:r>
              <a:t>ℋ(t)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977639" y="2377440"/>
            <a:ext cx="685800" cy="320040"/>
          </a:xfrm>
          <a:prstGeom prst="roundRect">
            <a:avLst/>
          </a:prstGeom>
          <a:solidFill>
            <a:srgbClr val="B4A7D6"/>
          </a:solidFill>
          <a:ln w="12700">
            <a:solidFill>
              <a:srgbClr val="674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s(t)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543800" y="2240280"/>
            <a:ext cx="685800" cy="320040"/>
          </a:xfrm>
          <a:prstGeom prst="roundRect">
            <a:avLst/>
          </a:prstGeom>
          <a:solidFill>
            <a:srgbClr val="EA9999"/>
          </a:solidFill>
          <a:ln w="127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y(t)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543800" y="2651760"/>
            <a:ext cx="685800" cy="320040"/>
          </a:xfrm>
          <a:prstGeom prst="roundRect">
            <a:avLst/>
          </a:prstGeom>
          <a:solidFill>
            <a:srgbClr val="CFE2F3"/>
          </a:solidFill>
          <a:ln w="12700">
            <a:solidFill>
              <a:srgbClr val="3C7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n(t)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1430000" y="2148840"/>
            <a:ext cx="685800" cy="320040"/>
          </a:xfrm>
          <a:prstGeom prst="roundRect">
            <a:avLst/>
          </a:prstGeom>
          <a:solidFill>
            <a:srgbClr val="B4A7D6"/>
          </a:solidFill>
          <a:ln w="12700">
            <a:solidFill>
              <a:srgbClr val="674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ô(t)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715000" y="3703320"/>
            <a:ext cx="777240" cy="365760"/>
          </a:xfrm>
          <a:prstGeom prst="roundRect">
            <a:avLst/>
          </a:prstGeom>
          <a:solidFill>
            <a:srgbClr val="B4A7D6"/>
          </a:solidFill>
          <a:ln w="12700">
            <a:solidFill>
              <a:srgbClr val="674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ϕ(t)</a:t>
            </a:r>
          </a:p>
        </p:txBody>
      </p:sp>
      <p:sp>
        <p:nvSpPr>
          <p:cNvPr id="77" name="Diamond 76"/>
          <p:cNvSpPr/>
          <p:nvPr/>
        </p:nvSpPr>
        <p:spPr>
          <a:xfrm>
            <a:off x="4983480" y="4663440"/>
            <a:ext cx="2103120" cy="100584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Type of</a:t>
            </a:r>
          </a:p>
          <a:p>
            <a:pPr algn="ctr">
              <a:defRPr sz="1400"/>
            </a:pPr>
            <a:r>
              <a:t>Control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692640" y="4709160"/>
            <a:ext cx="548640" cy="320040"/>
          </a:xfrm>
          <a:prstGeom prst="roundRect">
            <a:avLst/>
          </a:prstGeom>
          <a:solidFill>
            <a:srgbClr val="6AA84F"/>
          </a:solidFill>
          <a:ln w="1270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ω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189720" y="5166360"/>
            <a:ext cx="1554480" cy="411480"/>
          </a:xfrm>
          <a:prstGeom prst="roundRect">
            <a:avLst/>
          </a:prstGeom>
          <a:solidFill>
            <a:srgbClr val="EFEFEF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/>
            </a:pPr>
            <a:r>
              <a:t>exp(−j2π ω)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692640" y="5715000"/>
            <a:ext cx="640080" cy="320040"/>
          </a:xfrm>
          <a:prstGeom prst="roundRect">
            <a:avLst/>
          </a:prstGeom>
          <a:solidFill>
            <a:srgbClr val="B4A7D6"/>
          </a:solidFill>
          <a:ln w="12700">
            <a:solidFill>
              <a:srgbClr val="674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ϕ̄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822960" y="1485900"/>
            <a:ext cx="91440" cy="20574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Isosceles Triangle 81"/>
          <p:cNvSpPr/>
          <p:nvPr/>
        </p:nvSpPr>
        <p:spPr>
          <a:xfrm rot="9362251">
            <a:off x="832104" y="1609344"/>
            <a:ext cx="164592" cy="164592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 flipH="1">
            <a:off x="914400" y="2034539"/>
            <a:ext cx="45720" cy="114301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Isosceles Triangle 83"/>
          <p:cNvSpPr/>
          <p:nvPr/>
        </p:nvSpPr>
        <p:spPr>
          <a:xfrm rot="12108074">
            <a:off x="832104" y="2066544"/>
            <a:ext cx="164592" cy="164592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 flipH="1">
            <a:off x="914400" y="2491740"/>
            <a:ext cx="45720" cy="1143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Isosceles Triangle 85"/>
          <p:cNvSpPr/>
          <p:nvPr/>
        </p:nvSpPr>
        <p:spPr>
          <a:xfrm rot="12108085">
            <a:off x="832104" y="2523744"/>
            <a:ext cx="164592" cy="164592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" name="Connector 86"/>
          <p:cNvCxnSpPr/>
          <p:nvPr/>
        </p:nvCxnSpPr>
        <p:spPr>
          <a:xfrm>
            <a:off x="3840480" y="2537460"/>
            <a:ext cx="137159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Isosceles Triangle 87"/>
          <p:cNvSpPr/>
          <p:nvPr/>
        </p:nvSpPr>
        <p:spPr>
          <a:xfrm rot="5400000">
            <a:off x="3895343" y="2455164"/>
            <a:ext cx="164592" cy="164592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 flipH="1">
            <a:off x="4572000" y="2537460"/>
            <a:ext cx="91439" cy="13716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Isosceles Triangle 89"/>
          <p:cNvSpPr/>
          <p:nvPr/>
        </p:nvSpPr>
        <p:spPr>
          <a:xfrm rot="12821387">
            <a:off x="4489704" y="2592324"/>
            <a:ext cx="164592" cy="164592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" name="Connector 90"/>
          <p:cNvCxnSpPr/>
          <p:nvPr/>
        </p:nvCxnSpPr>
        <p:spPr>
          <a:xfrm flipV="1">
            <a:off x="7498080" y="2400300"/>
            <a:ext cx="45720" cy="27432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Isosceles Triangle 91"/>
          <p:cNvSpPr/>
          <p:nvPr/>
        </p:nvSpPr>
        <p:spPr>
          <a:xfrm rot="567739">
            <a:off x="7461504" y="2318004"/>
            <a:ext cx="164592" cy="164592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" name="Connector 92"/>
          <p:cNvCxnSpPr/>
          <p:nvPr/>
        </p:nvCxnSpPr>
        <p:spPr>
          <a:xfrm flipV="1">
            <a:off x="8229600" y="1920240"/>
            <a:ext cx="182880" cy="48006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Isosceles Triangle 93"/>
          <p:cNvSpPr/>
          <p:nvPr/>
        </p:nvSpPr>
        <p:spPr>
          <a:xfrm rot="1251267">
            <a:off x="8330184" y="1837944"/>
            <a:ext cx="164592" cy="164592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5" name="Connector 94"/>
          <p:cNvCxnSpPr/>
          <p:nvPr/>
        </p:nvCxnSpPr>
        <p:spPr>
          <a:xfrm flipV="1">
            <a:off x="8229600" y="2377440"/>
            <a:ext cx="182880" cy="43434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Isosceles Triangle 95"/>
          <p:cNvSpPr/>
          <p:nvPr/>
        </p:nvSpPr>
        <p:spPr>
          <a:xfrm rot="1370019">
            <a:off x="8330184" y="2295144"/>
            <a:ext cx="164592" cy="164592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7" name="Connector 96"/>
          <p:cNvCxnSpPr/>
          <p:nvPr/>
        </p:nvCxnSpPr>
        <p:spPr>
          <a:xfrm flipH="1" flipV="1">
            <a:off x="2103120" y="2308860"/>
            <a:ext cx="9235440" cy="912114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Isosceles Triangle 97"/>
          <p:cNvSpPr/>
          <p:nvPr/>
        </p:nvSpPr>
        <p:spPr>
          <a:xfrm rot="18878595">
            <a:off x="2020824" y="2226564"/>
            <a:ext cx="164592" cy="164592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9" name="Connector 98"/>
          <p:cNvCxnSpPr/>
          <p:nvPr/>
        </p:nvCxnSpPr>
        <p:spPr>
          <a:xfrm flipV="1">
            <a:off x="4754880" y="3886200"/>
            <a:ext cx="960120" cy="1371599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Isosceles Triangle 99"/>
          <p:cNvSpPr/>
          <p:nvPr/>
        </p:nvSpPr>
        <p:spPr>
          <a:xfrm rot="2099522">
            <a:off x="5632704" y="3803904"/>
            <a:ext cx="164592" cy="164592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1" name="Connector 100"/>
          <p:cNvCxnSpPr/>
          <p:nvPr/>
        </p:nvCxnSpPr>
        <p:spPr>
          <a:xfrm flipH="1" flipV="1">
            <a:off x="6035040" y="3291840"/>
            <a:ext cx="457200" cy="59436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Isosceles Triangle 101"/>
          <p:cNvSpPr/>
          <p:nvPr/>
        </p:nvSpPr>
        <p:spPr>
          <a:xfrm rot="19345884">
            <a:off x="5952744" y="3209544"/>
            <a:ext cx="164592" cy="164592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3" name="Connector 102"/>
          <p:cNvCxnSpPr/>
          <p:nvPr/>
        </p:nvCxnSpPr>
        <p:spPr>
          <a:xfrm flipH="1">
            <a:off x="914400" y="2491740"/>
            <a:ext cx="45720" cy="2583179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Isosceles Triangle 103"/>
          <p:cNvSpPr/>
          <p:nvPr/>
        </p:nvSpPr>
        <p:spPr>
          <a:xfrm rot="10860839">
            <a:off x="832104" y="4992623"/>
            <a:ext cx="164592" cy="164592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5" name="Connector 104"/>
          <p:cNvCxnSpPr/>
          <p:nvPr/>
        </p:nvCxnSpPr>
        <p:spPr>
          <a:xfrm flipH="1">
            <a:off x="2377440" y="1005840"/>
            <a:ext cx="3703320" cy="0"/>
          </a:xfrm>
          <a:prstGeom prst="line">
            <a:avLst/>
          </a:prstGeom>
          <a:ln w="25400">
            <a:solidFill>
              <a:srgbClr val="3C7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Isosceles Triangle 105"/>
          <p:cNvSpPr/>
          <p:nvPr/>
        </p:nvSpPr>
        <p:spPr>
          <a:xfrm rot="16200000">
            <a:off x="2295144" y="923544"/>
            <a:ext cx="164592" cy="164592"/>
          </a:xfrm>
          <a:prstGeom prst="triangle">
            <a:avLst/>
          </a:prstGeom>
          <a:solidFill>
            <a:srgbClr val="3C7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7" name="Connector 106"/>
          <p:cNvCxnSpPr/>
          <p:nvPr/>
        </p:nvCxnSpPr>
        <p:spPr>
          <a:xfrm>
            <a:off x="6080760" y="1005840"/>
            <a:ext cx="3794760" cy="0"/>
          </a:xfrm>
          <a:prstGeom prst="line">
            <a:avLst/>
          </a:prstGeom>
          <a:ln w="25400">
            <a:solidFill>
              <a:srgbClr val="3C7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Isosceles Triangle 107"/>
          <p:cNvSpPr/>
          <p:nvPr/>
        </p:nvSpPr>
        <p:spPr>
          <a:xfrm rot="5400000">
            <a:off x="9793224" y="923544"/>
            <a:ext cx="164592" cy="164592"/>
          </a:xfrm>
          <a:prstGeom prst="triangle">
            <a:avLst/>
          </a:prstGeom>
          <a:solidFill>
            <a:srgbClr val="3C7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9" name="Connector 108"/>
          <p:cNvCxnSpPr/>
          <p:nvPr/>
        </p:nvCxnSpPr>
        <p:spPr>
          <a:xfrm flipH="1">
            <a:off x="2834640" y="1005840"/>
            <a:ext cx="3246120" cy="2971799"/>
          </a:xfrm>
          <a:prstGeom prst="line">
            <a:avLst/>
          </a:prstGeom>
          <a:ln w="25400">
            <a:solidFill>
              <a:srgbClr val="3C7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Isosceles Triangle 109"/>
          <p:cNvSpPr/>
          <p:nvPr/>
        </p:nvSpPr>
        <p:spPr>
          <a:xfrm rot="13651568">
            <a:off x="2752344" y="3895343"/>
            <a:ext cx="164592" cy="164592"/>
          </a:xfrm>
          <a:prstGeom prst="triangle">
            <a:avLst/>
          </a:prstGeom>
          <a:solidFill>
            <a:srgbClr val="3C7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>
            <a:off x="6080760" y="1005840"/>
            <a:ext cx="4160520" cy="2971799"/>
          </a:xfrm>
          <a:prstGeom prst="line">
            <a:avLst/>
          </a:prstGeom>
          <a:ln w="25400">
            <a:solidFill>
              <a:srgbClr val="3C7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Isosceles Triangle 111"/>
          <p:cNvSpPr/>
          <p:nvPr/>
        </p:nvSpPr>
        <p:spPr>
          <a:xfrm rot="7532260">
            <a:off x="10158984" y="3895343"/>
            <a:ext cx="164592" cy="164592"/>
          </a:xfrm>
          <a:prstGeom prst="triangle">
            <a:avLst/>
          </a:prstGeom>
          <a:solidFill>
            <a:srgbClr val="3C7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3657600" y="58978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Reconfigurable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492240" y="58978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Fixed</a:t>
            </a:r>
          </a:p>
          <a:p>
            <a:r>
              <a:t>Configuration</a:t>
            </a:r>
          </a:p>
        </p:txBody>
      </p:sp>
      <p:cxnSp>
        <p:nvCxnSpPr>
          <p:cNvPr id="115" name="Connector 114"/>
          <p:cNvCxnSpPr/>
          <p:nvPr/>
        </p:nvCxnSpPr>
        <p:spPr>
          <a:xfrm flipH="1" flipV="1">
            <a:off x="2834640" y="3977639"/>
            <a:ext cx="3200400" cy="1691641"/>
          </a:xfrm>
          <a:prstGeom prst="line">
            <a:avLst/>
          </a:prstGeom>
          <a:ln w="15875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6035040" y="3977639"/>
            <a:ext cx="4206240" cy="1691641"/>
          </a:xfrm>
          <a:prstGeom prst="line">
            <a:avLst/>
          </a:prstGeom>
          <a:ln w="15875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